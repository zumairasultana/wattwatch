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f2f663d-5525-0f5e-7319-ae43384ea188}">
          <p14:sldIdLst>
            <p14:sldId id="256"/>
          </p14:sldIdLst>
        </p14:section>
        <p14:section name="Problem and solution" id="{6ce35a9b-18f4-43de-440b-a6744f4b848d}">
          <p14:sldIdLst>
            <p14:sldId id="257"/>
            <p14:sldId id="258"/>
          </p14:sldIdLst>
        </p14:section>
        <p14:section name="System design" id="{de8b6c98-0819-5da1-0bea-56cc3509692c}">
          <p14:sldIdLst>
            <p14:sldId id="259"/>
            <p14:sldId id="260"/>
            <p14:sldId id="261"/>
          </p14:sldIdLst>
        </p14:section>
        <p14:section name="The app" id="{efca2ebd-351e-9cdf-8f95-63f3d286111d}">
          <p14:sldIdLst>
            <p14:sldId id="262"/>
            <p14:sldId id="263"/>
            <p14:sldId id="264"/>
            <p14:sldId id="265"/>
          </p14:sldIdLst>
        </p14:section>
        <p14:section name="Conclusion" id="{b3707a47-99fb-b0e2-7d08-f82f42bd2e6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1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12E"/>
                </a:solidFill>
                <a:latin typeface="+mn-lt"/>
              </a:rPr>
              <a:t>Rs per unit by slab (units per 2 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 per unit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A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0-100</c:v>
                  </c:pt>
                  <c:pt idx="1">
                    <c:v>101-400</c:v>
                  </c:pt>
                  <c:pt idx="2">
                    <c:v>401-500</c:v>
                  </c:pt>
                  <c:pt idx="3">
                    <c:v>501-600</c:v>
                  </c:pt>
                  <c:pt idx="4">
                    <c:v>601-800</c:v>
                  </c:pt>
                  <c:pt idx="5">
                    <c:v>801-1000</c:v>
                  </c:pt>
                  <c:pt idx="6">
                    <c:v>&gt;1000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4.8</c:v>
                </c:pt>
                <c:pt idx="2">
                  <c:v>6.45</c:v>
                </c:pt>
                <c:pt idx="3">
                  <c:v>8.55</c:v>
                </c:pt>
                <c:pt idx="4">
                  <c:v>9.65</c:v>
                </c:pt>
                <c:pt idx="5">
                  <c:v>10.7</c:v>
                </c:pt>
                <c:pt idx="6">
                  <c:v>11.8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A4A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A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WATT-WATCH helps families see their electricity bill coming before it arrives. Replace [Your name] and [College / Department]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slab billing: units are charged in steps, and each step costs more. Because bills come every two months, families can't react in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steps. Step 4, the early warning, is the key idea: the user is told before the bill jumps.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does the logic, Streamlit turns it into a web page, SQLite stores the data in one file, and Tesseract reads meter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 is a primary key (unique ID). FK is a foreign key linking to another table. Starts with 10 sample households from our database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450-unit example. The first 100 units are free, units 101-400 cost Rs 4.80, and units above 400 cost Rs 6.45.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welcome pop-up, then how a reading is added for the sample household Lakshmi (H007).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Units per day is the slope of a straight line through recent readings. The warning says Lakshmi should cut about 33 units to stay at or below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code change made in alerts.py. Tests still pass (33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hour of a 2000 W geyser saves as much as 20 hours of a 100 W TV, so powerful appliances are cut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testing was done with the sample households from our database document; testing with real homes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the live app or the demo video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WATT-WATCH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lt circle"/>
          <p:cNvSpPr/>
          <p:nvPr/>
        </p:nvSpPr>
        <p:spPr>
          <a:xfrm>
            <a:off x="731520" y="82296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lt"/>
          <p:cNvSpPr txBox="1"/>
          <p:nvPr/>
        </p:nvSpPr>
        <p:spPr>
          <a:xfrm>
            <a:off x="73152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⚡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WATT-WATCH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Smart electricity bill warning and saving assistant for households</a:t>
            </a:r>
            <a:endParaRPr lang="en-US" sz="2400" dirty="0"/>
          </a:p>
        </p:txBody>
      </p:sp>
      <p:sp>
        <p:nvSpPr>
          <p:cNvPr id="6" name="Presenter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Presented by: [Your name]   ·   [College / Department]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problem: bills jump between slabs</a:t>
            </a:r>
            <a:endParaRPr lang="en-US" sz="34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Tamil Nadu bills households every 2 months on a slab system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price of each extra unit rises as usage crosses each slab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Families only see their usage when the bill arrives, too late to change it</a:t>
            </a:r>
            <a:endParaRPr lang="en-US" sz="2000" dirty="0"/>
          </a:p>
        </p:txBody>
      </p:sp>
      <p:graphicFrame>
        <p:nvGraphicFramePr>
          <p:cNvPr id="4" name="Slab rate chart" descr=""/>
          <p:cNvGraphicFramePr/>
          <p:nvPr/>
        </p:nvGraphicFramePr>
        <p:xfrm>
          <a:off x="585216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Rates used in the app, based on TNERC Tariff Order No. 6 of 2025 (domestic LT IA). First 100 units free under the Government subsidy.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solution: see the bill coming</a:t>
            </a:r>
            <a:endParaRPr lang="en-US" sz="3400" dirty="0"/>
          </a:p>
        </p:txBody>
      </p:sp>
      <p:sp>
        <p:nvSpPr>
          <p:cNvPr id="3" name="Step 1 circle"/>
          <p:cNvSpPr/>
          <p:nvPr/>
        </p:nvSpPr>
        <p:spPr>
          <a:xfrm>
            <a:off x="96012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9601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Step 1 title"/>
          <p:cNvSpPr txBox="1"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Scan</a:t>
            </a:r>
            <a:endParaRPr lang="en-US" sz="2200" dirty="0"/>
          </a:p>
        </p:txBody>
      </p:sp>
      <p:sp>
        <p:nvSpPr>
          <p:cNvPr id="6" name="Step 1 text"/>
          <p:cNvSpPr txBox="1"/>
          <p:nvPr/>
        </p:nvSpPr>
        <p:spPr>
          <a:xfrm>
            <a:off x="54864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Photo of the meter or type the reading</a:t>
            </a:r>
            <a:endParaRPr lang="en-US" sz="1400" dirty="0"/>
          </a:p>
        </p:txBody>
      </p:sp>
      <p:sp>
        <p:nvSpPr>
          <p:cNvPr id="7" name="Arrow 1"/>
          <p:cNvSpPr txBox="1"/>
          <p:nvPr/>
        </p:nvSpPr>
        <p:spPr>
          <a:xfrm>
            <a:off x="196596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tep 2 circle"/>
          <p:cNvSpPr/>
          <p:nvPr/>
        </p:nvSpPr>
        <p:spPr>
          <a:xfrm>
            <a:off x="283464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2834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Step 2 title"/>
          <p:cNvSpPr txBox="1"/>
          <p:nvPr/>
        </p:nvSpPr>
        <p:spPr>
          <a:xfrm>
            <a:off x="242316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Track</a:t>
            </a:r>
            <a:endParaRPr lang="en-US" sz="2200" dirty="0"/>
          </a:p>
        </p:txBody>
      </p:sp>
      <p:sp>
        <p:nvSpPr>
          <p:cNvPr id="11" name="Step 2 text"/>
          <p:cNvSpPr txBox="1"/>
          <p:nvPr/>
        </p:nvSpPr>
        <p:spPr>
          <a:xfrm>
            <a:off x="242316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Units used since the last bill</a:t>
            </a:r>
            <a:endParaRPr lang="en-US" sz="1400" dirty="0"/>
          </a:p>
        </p:txBody>
      </p:sp>
      <p:sp>
        <p:nvSpPr>
          <p:cNvPr id="12" name="Arrow 2"/>
          <p:cNvSpPr txBox="1"/>
          <p:nvPr/>
        </p:nvSpPr>
        <p:spPr>
          <a:xfrm>
            <a:off x="384048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tep 3 circle"/>
          <p:cNvSpPr/>
          <p:nvPr/>
        </p:nvSpPr>
        <p:spPr>
          <a:xfrm>
            <a:off x="470916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7091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Step 3 title"/>
          <p:cNvSpPr txBox="1"/>
          <p:nvPr/>
        </p:nvSpPr>
        <p:spPr>
          <a:xfrm>
            <a:off x="429768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Predict</a:t>
            </a:r>
            <a:endParaRPr lang="en-US" sz="2200" dirty="0"/>
          </a:p>
        </p:txBody>
      </p:sp>
      <p:sp>
        <p:nvSpPr>
          <p:cNvPr id="16" name="Step 3 text"/>
          <p:cNvSpPr txBox="1"/>
          <p:nvPr/>
        </p:nvSpPr>
        <p:spPr>
          <a:xfrm>
            <a:off x="429768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Expected units and bill for the cycle</a:t>
            </a:r>
            <a:endParaRPr lang="en-US" sz="1400" dirty="0"/>
          </a:p>
        </p:txBody>
      </p:sp>
      <p:sp>
        <p:nvSpPr>
          <p:cNvPr id="17" name="Arrow 3"/>
          <p:cNvSpPr txBox="1"/>
          <p:nvPr/>
        </p:nvSpPr>
        <p:spPr>
          <a:xfrm>
            <a:off x="571500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tep 4 circle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65836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Step 4 title"/>
          <p:cNvSpPr txBox="1"/>
          <p:nvPr/>
        </p:nvSpPr>
        <p:spPr>
          <a:xfrm>
            <a:off x="617220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Warn</a:t>
            </a:r>
            <a:endParaRPr lang="en-US" sz="2200" dirty="0"/>
          </a:p>
        </p:txBody>
      </p:sp>
      <p:sp>
        <p:nvSpPr>
          <p:cNvPr id="21" name="Step 4 text"/>
          <p:cNvSpPr txBox="1"/>
          <p:nvPr/>
        </p:nvSpPr>
        <p:spPr>
          <a:xfrm>
            <a:off x="617220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Early alert before a costlier slab</a:t>
            </a:r>
            <a:endParaRPr lang="en-US" sz="1400" dirty="0"/>
          </a:p>
        </p:txBody>
      </p:sp>
      <p:sp>
        <p:nvSpPr>
          <p:cNvPr id="22" name="Arrow 4"/>
          <p:cNvSpPr txBox="1"/>
          <p:nvPr/>
        </p:nvSpPr>
        <p:spPr>
          <a:xfrm>
            <a:off x="758952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Step 5 circle"/>
          <p:cNvSpPr/>
          <p:nvPr/>
        </p:nvSpPr>
        <p:spPr>
          <a:xfrm>
            <a:off x="845820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Step 5 number"/>
          <p:cNvSpPr txBox="1"/>
          <p:nvPr/>
        </p:nvSpPr>
        <p:spPr>
          <a:xfrm>
            <a:off x="84582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Step 5 title"/>
          <p:cNvSpPr txBox="1"/>
          <p:nvPr/>
        </p:nvSpPr>
        <p:spPr>
          <a:xfrm>
            <a:off x="804672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Reduce</a:t>
            </a:r>
            <a:endParaRPr lang="en-US" sz="2200" dirty="0"/>
          </a:p>
        </p:txBody>
      </p:sp>
      <p:sp>
        <p:nvSpPr>
          <p:cNvPr id="26" name="Step 5 text"/>
          <p:cNvSpPr txBox="1"/>
          <p:nvPr/>
        </p:nvSpPr>
        <p:spPr>
          <a:xfrm>
            <a:off x="804672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Plan: which appliances to cut</a:t>
            </a:r>
            <a:endParaRPr lang="en-US" sz="1400" dirty="0"/>
          </a:p>
        </p:txBody>
      </p:sp>
      <p:sp>
        <p:nvSpPr>
          <p:cNvPr id="27" name="Arrow 5"/>
          <p:cNvSpPr txBox="1"/>
          <p:nvPr/>
        </p:nvSpPr>
        <p:spPr>
          <a:xfrm>
            <a:off x="946404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28" name="Step 6 circle"/>
          <p:cNvSpPr/>
          <p:nvPr/>
        </p:nvSpPr>
        <p:spPr>
          <a:xfrm>
            <a:off x="1033272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Step 6 number"/>
          <p:cNvSpPr txBox="1"/>
          <p:nvPr/>
        </p:nvSpPr>
        <p:spPr>
          <a:xfrm>
            <a:off x="103327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30" name="Step 6 title"/>
          <p:cNvSpPr txBox="1"/>
          <p:nvPr/>
        </p:nvSpPr>
        <p:spPr>
          <a:xfrm>
            <a:off x="99212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Save</a:t>
            </a:r>
            <a:endParaRPr lang="en-US" sz="2200" dirty="0"/>
          </a:p>
        </p:txBody>
      </p:sp>
      <p:sp>
        <p:nvSpPr>
          <p:cNvPr id="31" name="Step 6 text"/>
          <p:cNvSpPr txBox="1"/>
          <p:nvPr/>
        </p:nvSpPr>
        <p:spPr>
          <a:xfrm>
            <a:off x="992124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Units, money and CO2 saved</a:t>
            </a:r>
            <a:endParaRPr lang="en-US" sz="1400" dirty="0"/>
          </a:p>
        </p:txBody>
      </p:sp>
      <p:sp>
        <p:nvSpPr>
          <p:cNvPr id="32" name="Value box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Value text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extra hardware: a web app that works in any browser, on a phone or a computer.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</a:t>
            </a:r>
            <a:endParaRPr lang="en-US" sz="3400" dirty="0"/>
          </a:p>
        </p:txBody>
      </p:sp>
      <p:sp>
        <p:nvSpPr>
          <p:cNvPr id="3" name="Python card"/>
          <p:cNvSpPr/>
          <p:nvPr/>
        </p:nvSpPr>
        <p:spPr>
          <a:xfrm>
            <a:off x="54864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ython dot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ython title"/>
          <p:cNvSpPr txBox="1"/>
          <p:nvPr/>
        </p:nvSpPr>
        <p:spPr>
          <a:xfrm>
            <a:off x="160020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Python</a:t>
            </a:r>
            <a:endParaRPr lang="en-US" sz="2400" dirty="0"/>
          </a:p>
        </p:txBody>
      </p:sp>
      <p:sp>
        <p:nvSpPr>
          <p:cNvPr id="6" name="Python text"/>
          <p:cNvSpPr txBox="1"/>
          <p:nvPr/>
        </p:nvSpPr>
        <p:spPr>
          <a:xfrm>
            <a:off x="1600200" y="2331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All calculations: bill, prediction, warning, saving plan</a:t>
            </a:r>
            <a:endParaRPr lang="en-US" sz="1600" dirty="0"/>
          </a:p>
        </p:txBody>
      </p:sp>
      <p:sp>
        <p:nvSpPr>
          <p:cNvPr id="7" name="Streamlit card"/>
          <p:cNvSpPr/>
          <p:nvPr/>
        </p:nvSpPr>
        <p:spPr>
          <a:xfrm>
            <a:off x="617220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reamlit dot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reamlit title"/>
          <p:cNvSpPr txBox="1"/>
          <p:nvPr/>
        </p:nvSpPr>
        <p:spPr>
          <a:xfrm>
            <a:off x="722376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Streamlit</a:t>
            </a:r>
            <a:endParaRPr lang="en-US" sz="2400" dirty="0"/>
          </a:p>
        </p:txBody>
      </p:sp>
      <p:sp>
        <p:nvSpPr>
          <p:cNvPr id="10" name="Streamlit text"/>
          <p:cNvSpPr txBox="1"/>
          <p:nvPr/>
        </p:nvSpPr>
        <p:spPr>
          <a:xfrm>
            <a:off x="7223760" y="2331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web interface: welcome pop-up, sidebar and 4 tabs</a:t>
            </a:r>
            <a:endParaRPr lang="en-US" sz="1600" dirty="0"/>
          </a:p>
        </p:txBody>
      </p:sp>
      <p:sp>
        <p:nvSpPr>
          <p:cNvPr id="11" name="SQLite card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QLite dot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QLite title"/>
          <p:cNvSpPr txBox="1"/>
          <p:nvPr/>
        </p:nvSpPr>
        <p:spPr>
          <a:xfrm>
            <a:off x="1600200" y="3977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SQLite</a:t>
            </a:r>
            <a:endParaRPr lang="en-US" sz="2400" dirty="0"/>
          </a:p>
        </p:txBody>
      </p:sp>
      <p:sp>
        <p:nvSpPr>
          <p:cNvPr id="14" name="SQLite text"/>
          <p:cNvSpPr txBox="1"/>
          <p:nvPr/>
        </p:nvSpPr>
        <p:spPr>
          <a:xfrm>
            <a:off x="1600200" y="4572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Database of households, meter readings and bills</a:t>
            </a:r>
            <a:endParaRPr lang="en-US" sz="1600" dirty="0"/>
          </a:p>
        </p:txBody>
      </p:sp>
      <p:sp>
        <p:nvSpPr>
          <p:cNvPr id="15" name="Tesseract OCR card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sseract OCR dot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sseract OCR title"/>
          <p:cNvSpPr txBox="1"/>
          <p:nvPr/>
        </p:nvSpPr>
        <p:spPr>
          <a:xfrm>
            <a:off x="7223760" y="3977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Tesseract OCR</a:t>
            </a:r>
            <a:endParaRPr lang="en-US" sz="2400" dirty="0"/>
          </a:p>
        </p:txBody>
      </p:sp>
      <p:sp>
        <p:nvSpPr>
          <p:cNvPr id="18" name="Tesseract OCR text"/>
          <p:cNvSpPr txBox="1"/>
          <p:nvPr/>
        </p:nvSpPr>
        <p:spPr>
          <a:xfrm>
            <a:off x="7223760" y="4572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Reads the number from a meter photo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Database: three linked tables</a:t>
            </a:r>
            <a:endParaRPr lang="en-US" sz="3400" dirty="0"/>
          </a:p>
        </p:txBody>
      </p:sp>
      <p:sp>
        <p:nvSpPr>
          <p:cNvPr id="3" name="Household header"/>
          <p:cNvSpPr/>
          <p:nvPr/>
        </p:nvSpPr>
        <p:spPr>
          <a:xfrm>
            <a:off x="548640" y="1371600"/>
            <a:ext cx="3291840" cy="5486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Household name"/>
          <p:cNvSpPr txBox="1"/>
          <p:nvPr/>
        </p:nvSpPr>
        <p:spPr>
          <a:xfrm>
            <a:off x="54864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Household</a:t>
            </a:r>
            <a:endParaRPr lang="en-US" sz="1800" dirty="0"/>
          </a:p>
        </p:txBody>
      </p:sp>
      <p:sp>
        <p:nvSpPr>
          <p:cNvPr id="5" name="Household body"/>
          <p:cNvSpPr/>
          <p:nvPr/>
        </p:nvSpPr>
        <p:spPr>
          <a:xfrm>
            <a:off x="548640" y="1920240"/>
            <a:ext cx="3291840" cy="2103120"/>
          </a:xfrm>
          <a:prstGeom prst="rect">
            <a:avLst/>
          </a:prstGeom>
          <a:solidFill>
            <a:schemeClr val="bg2"/>
          </a:solidFill>
          <a:ln w="12700">
            <a:solidFill>
              <a:srgbClr val="D0D5DB"/>
            </a:solidFill>
            <a:prstDash val="solid"/>
          </a:ln>
        </p:spPr>
      </p:sp>
      <p:sp>
        <p:nvSpPr>
          <p:cNvPr id="6" name="Household fields"/>
          <p:cNvSpPr txBox="1"/>
          <p:nvPr/>
        </p:nvSpPr>
        <p:spPr>
          <a:xfrm>
            <a:off x="731520" y="20116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House_ID (PK)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Consumer_Number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Household_Name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Address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Connection_Type</a:t>
            </a:r>
            <a:endParaRPr lang="en-US" sz="1400" dirty="0"/>
          </a:p>
        </p:txBody>
      </p:sp>
      <p:sp>
        <p:nvSpPr>
          <p:cNvPr id="7" name="EB_Meter header"/>
          <p:cNvSpPr/>
          <p:nvPr/>
        </p:nvSpPr>
        <p:spPr>
          <a:xfrm>
            <a:off x="4389120" y="1371600"/>
            <a:ext cx="3291840" cy="5486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EB_Meter name"/>
          <p:cNvSpPr txBox="1"/>
          <p:nvPr/>
        </p:nvSpPr>
        <p:spPr>
          <a:xfrm>
            <a:off x="438912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EB_Meter</a:t>
            </a:r>
            <a:endParaRPr lang="en-US" sz="1800" dirty="0"/>
          </a:p>
        </p:txBody>
      </p:sp>
      <p:sp>
        <p:nvSpPr>
          <p:cNvPr id="9" name="EB_Meter body"/>
          <p:cNvSpPr/>
          <p:nvPr/>
        </p:nvSpPr>
        <p:spPr>
          <a:xfrm>
            <a:off x="4389120" y="1920240"/>
            <a:ext cx="3291840" cy="3639312"/>
          </a:xfrm>
          <a:prstGeom prst="rect">
            <a:avLst/>
          </a:prstGeom>
          <a:solidFill>
            <a:schemeClr val="bg2"/>
          </a:solidFill>
          <a:ln w="12700">
            <a:solidFill>
              <a:srgbClr val="D0D5DB"/>
            </a:solidFill>
            <a:prstDash val="solid"/>
          </a:ln>
        </p:spPr>
      </p:sp>
      <p:sp>
        <p:nvSpPr>
          <p:cNvPr id="10" name="EB_Meter fields"/>
          <p:cNvSpPr txBox="1"/>
          <p:nvPr/>
        </p:nvSpPr>
        <p:spPr>
          <a:xfrm>
            <a:off x="4572000" y="2011680"/>
            <a:ext cx="29260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Meter_ID (PK)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House_ID (FK)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Meter_Number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Previous_Reading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Current_Reading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Units_Consumed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Reading_Date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Previous_Reading_Date *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Bill_ID (FK) *</a:t>
            </a:r>
            <a:endParaRPr lang="en-US" sz="1400" dirty="0"/>
          </a:p>
        </p:txBody>
      </p:sp>
      <p:sp>
        <p:nvSpPr>
          <p:cNvPr id="11" name="Electricity_Bill header"/>
          <p:cNvSpPr/>
          <p:nvPr/>
        </p:nvSpPr>
        <p:spPr>
          <a:xfrm>
            <a:off x="8229600" y="1371600"/>
            <a:ext cx="3291840" cy="5486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Electricity_Bill name"/>
          <p:cNvSpPr txBox="1"/>
          <p:nvPr/>
        </p:nvSpPr>
        <p:spPr>
          <a:xfrm>
            <a:off x="822960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Electricity_Bill</a:t>
            </a:r>
            <a:endParaRPr lang="en-US" sz="1800" dirty="0"/>
          </a:p>
        </p:txBody>
      </p:sp>
      <p:sp>
        <p:nvSpPr>
          <p:cNvPr id="13" name="Electricity_Bill body"/>
          <p:cNvSpPr/>
          <p:nvPr/>
        </p:nvSpPr>
        <p:spPr>
          <a:xfrm>
            <a:off x="8229600" y="1920240"/>
            <a:ext cx="3291840" cy="2487168"/>
          </a:xfrm>
          <a:prstGeom prst="rect">
            <a:avLst/>
          </a:prstGeom>
          <a:solidFill>
            <a:schemeClr val="bg2"/>
          </a:solidFill>
          <a:ln w="12700">
            <a:solidFill>
              <a:srgbClr val="D0D5DB"/>
            </a:solidFill>
            <a:prstDash val="solid"/>
          </a:ln>
        </p:spPr>
      </p:sp>
      <p:sp>
        <p:nvSpPr>
          <p:cNvPr id="14" name="Electricity_Bill fields"/>
          <p:cNvSpPr txBox="1"/>
          <p:nvPr/>
        </p:nvSpPr>
        <p:spPr>
          <a:xfrm>
            <a:off x="8412480" y="2011680"/>
            <a:ext cx="29260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Bill_ID (PK)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House_ID (FK)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Billing_Period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Units_Consumed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Bill_Amount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Payment_Status</a:t>
            </a:r>
            <a:endParaRPr lang="en-US" sz="1400" dirty="0"/>
          </a:p>
        </p:txBody>
      </p:sp>
      <p:sp>
        <p:nvSpPr>
          <p:cNvPr id="15" name="Link 1"/>
          <p:cNvSpPr txBox="1"/>
          <p:nvPr/>
        </p:nvSpPr>
        <p:spPr>
          <a:xfrm>
            <a:off x="384048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Link 2"/>
          <p:cNvSpPr txBox="1"/>
          <p:nvPr/>
        </p:nvSpPr>
        <p:spPr>
          <a:xfrm>
            <a:off x="768096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DB note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household has many readings and many bills. Units_Consumed = Current_Reading − Previous_Reading (calculated, never typed).  * Added: Previous_Reading_Date (to get units per day) and Bill_ID (empty = current, unbilled cycle).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Bill calculation: slab by slab</a:t>
            </a:r>
            <a:endParaRPr lang="en-US" sz="3400" dirty="0"/>
          </a:p>
        </p:txBody>
      </p:sp>
      <p:graphicFrame>
        <p:nvGraphicFramePr>
          <p:cNvPr id="7" name="Bil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4630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Slab (units)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Units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Rate (Rs)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Amount (Rs)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0 - 100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101 - 400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4.80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1,440.00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401 - 450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6.45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322.50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1,762.50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ample bill card"/>
          <p:cNvSpPr/>
          <p:nvPr/>
        </p:nvSpPr>
        <p:spPr>
          <a:xfrm>
            <a:off x="7680960" y="146304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bill value"/>
          <p:cNvSpPr txBox="1"/>
          <p:nvPr/>
        </p:nvSpPr>
        <p:spPr>
          <a:xfrm>
            <a:off x="786384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Rs 1,762.50</a:t>
            </a:r>
            <a:endParaRPr lang="en-US" sz="3000" dirty="0"/>
          </a:p>
        </p:txBody>
      </p:sp>
      <p:sp>
        <p:nvSpPr>
          <p:cNvPr id="6" name="Example bill label"/>
          <p:cNvSpPr txBox="1"/>
          <p:nvPr/>
        </p:nvSpPr>
        <p:spPr>
          <a:xfrm>
            <a:off x="786384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Bill for 450 units in 2 months</a:t>
            </a:r>
            <a:endParaRPr lang="en-US" sz="1300" dirty="0"/>
          </a:p>
        </p:txBody>
      </p:sp>
      <p:sp>
        <p:nvSpPr>
          <p:cNvPr id="7" name="Arun bill card"/>
          <p:cNvSpPr/>
          <p:nvPr/>
        </p:nvSpPr>
        <p:spPr>
          <a:xfrm>
            <a:off x="7680960" y="283464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run bill value"/>
          <p:cNvSpPr txBox="1"/>
          <p:nvPr/>
        </p:nvSpPr>
        <p:spPr>
          <a:xfrm>
            <a:off x="7863840" y="2926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Rs 240</a:t>
            </a:r>
            <a:endParaRPr lang="en-US" sz="3000" dirty="0"/>
          </a:p>
        </p:txBody>
      </p:sp>
      <p:sp>
        <p:nvSpPr>
          <p:cNvPr id="9" name="Arun bill label"/>
          <p:cNvSpPr txBox="1"/>
          <p:nvPr/>
        </p:nvSpPr>
        <p:spPr>
          <a:xfrm>
            <a:off x="786384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Sample: Arun, 150 units</a:t>
            </a:r>
            <a:endParaRPr lang="en-US" sz="1300" dirty="0"/>
          </a:p>
        </p:txBody>
      </p:sp>
      <p:sp>
        <p:nvSpPr>
          <p:cNvPr id="10" name="Lakshmi bill card"/>
          <p:cNvSpPr/>
          <p:nvPr/>
        </p:nvSpPr>
        <p:spPr>
          <a:xfrm>
            <a:off x="7680960" y="420624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akshmi bill value"/>
          <p:cNvSpPr txBox="1"/>
          <p:nvPr/>
        </p:nvSpPr>
        <p:spPr>
          <a:xfrm>
            <a:off x="7863840" y="4297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Rs 960</a:t>
            </a:r>
            <a:endParaRPr lang="en-US" sz="3000" dirty="0"/>
          </a:p>
        </p:txBody>
      </p:sp>
      <p:sp>
        <p:nvSpPr>
          <p:cNvPr id="12" name="Lakshmi bill label"/>
          <p:cNvSpPr txBox="1"/>
          <p:nvPr/>
        </p:nvSpPr>
        <p:spPr>
          <a:xfrm>
            <a:off x="786384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Sample: Lakshmi, 300 units</a:t>
            </a:r>
            <a:endParaRPr lang="en-US" sz="1300" dirty="0"/>
          </a:p>
        </p:txBody>
      </p:sp>
      <p:sp>
        <p:nvSpPr>
          <p:cNvPr id="13" name="Bill note"/>
          <p:cNvSpPr txBox="1"/>
          <p:nvPr/>
        </p:nvSpPr>
        <p:spPr>
          <a:xfrm>
            <a:off x="548640" y="4206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unit is charged at the rate of the slab it falls in. Rates can be edited in the app's sidebar when the tariff changes.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Welcome pop-up and meter tracking</a:t>
            </a:r>
            <a:endParaRPr lang="en-US" sz="3400" dirty="0"/>
          </a:p>
        </p:txBody>
      </p:sp>
      <p:pic>
        <p:nvPicPr>
          <p:cNvPr id="3" name="Welcome pop-up screenshot" descr="/tmp/claude-0/-home-user-WATTWATCH/3f01c9fc-04d6-52e2-bae7-b98eba98baa7/scratchpad/deck/img/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1613647"/>
          </a:xfrm>
          <a:prstGeom prst="rect">
            <a:avLst/>
          </a:prstGeom>
        </p:spPr>
      </p:pic>
      <p:pic>
        <p:nvPicPr>
          <p:cNvPr id="4" name="Scan and Track screenshot" descr="/tmp/claude-0/-home-user-WATTWATCH/3f01c9fc-04d6-52e2-bae7-b98eba98baa7/scratchpad/deck/img/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03520" cy="1751162"/>
          </a:xfrm>
          <a:prstGeom prst="rect">
            <a:avLst/>
          </a:prstGeom>
        </p:spPr>
      </p:pic>
      <p:sp>
        <p:nvSpPr>
          <p:cNvPr id="5" name="Welcome caption"/>
          <p:cNvSpPr txBox="1"/>
          <p:nvPr/>
        </p:nvSpPr>
        <p:spPr>
          <a:xfrm>
            <a:off x="548640" y="3154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welcome pop-up explains the 4 steps when the site opens.</a:t>
            </a:r>
            <a:endParaRPr lang="en-US" sz="1500" dirty="0"/>
          </a:p>
        </p:txBody>
      </p:sp>
      <p:sp>
        <p:nvSpPr>
          <p:cNvPr id="6" name="Track caption"/>
          <p:cNvSpPr txBox="1"/>
          <p:nvPr/>
        </p:nvSpPr>
        <p:spPr>
          <a:xfrm>
            <a:off x="630936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Type the reading or upload a meter photo. Readings that go down are rejected, because a meter only counts up.</a:t>
            </a:r>
            <a:endParaRPr lang="en-US" sz="1500" dirty="0"/>
          </a:p>
        </p:txBody>
      </p:sp>
      <p:sp>
        <p:nvSpPr>
          <p:cNvPr id="7" name="Readings card"/>
          <p:cNvSpPr/>
          <p:nvPr/>
        </p:nvSpPr>
        <p:spPr>
          <a:xfrm>
            <a:off x="548640" y="448056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adings value"/>
          <p:cNvSpPr txBox="1"/>
          <p:nvPr/>
        </p:nvSpPr>
        <p:spPr>
          <a:xfrm>
            <a:off x="73152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6400 → 6560</a:t>
            </a:r>
            <a:endParaRPr lang="en-US" sz="3000" dirty="0"/>
          </a:p>
        </p:txBody>
      </p:sp>
      <p:sp>
        <p:nvSpPr>
          <p:cNvPr id="9" name="Readings label"/>
          <p:cNvSpPr txBox="1"/>
          <p:nvPr/>
        </p:nvSpPr>
        <p:spPr>
          <a:xfrm>
            <a:off x="73152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Lakshmi's meter readings</a:t>
            </a:r>
            <a:endParaRPr lang="en-US" sz="1300" dirty="0"/>
          </a:p>
        </p:txBody>
      </p:sp>
      <p:sp>
        <p:nvSpPr>
          <p:cNvPr id="10" name="Units used card"/>
          <p:cNvSpPr/>
          <p:nvPr/>
        </p:nvSpPr>
        <p:spPr>
          <a:xfrm>
            <a:off x="4343400" y="448056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Units used value"/>
          <p:cNvSpPr txBox="1"/>
          <p:nvPr/>
        </p:nvSpPr>
        <p:spPr>
          <a:xfrm>
            <a:off x="452628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160 units</a:t>
            </a:r>
            <a:endParaRPr lang="en-US" sz="3000" dirty="0"/>
          </a:p>
        </p:txBody>
      </p:sp>
      <p:sp>
        <p:nvSpPr>
          <p:cNvPr id="12" name="Units used label"/>
          <p:cNvSpPr txBox="1"/>
          <p:nvPr/>
        </p:nvSpPr>
        <p:spPr>
          <a:xfrm>
            <a:off x="452628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used in 18 days</a:t>
            </a:r>
            <a:endParaRPr lang="en-US" sz="1300" dirty="0"/>
          </a:p>
        </p:txBody>
      </p:sp>
      <p:sp>
        <p:nvSpPr>
          <p:cNvPr id="13" name="Rate card"/>
          <p:cNvSpPr/>
          <p:nvPr/>
        </p:nvSpPr>
        <p:spPr>
          <a:xfrm>
            <a:off x="8138160" y="4480560"/>
            <a:ext cx="34747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ate value"/>
          <p:cNvSpPr txBox="1"/>
          <p:nvPr/>
        </p:nvSpPr>
        <p:spPr>
          <a:xfrm>
            <a:off x="8321040" y="4572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8.9 / day</a:t>
            </a:r>
            <a:endParaRPr lang="en-US" sz="3000" dirty="0"/>
          </a:p>
        </p:txBody>
      </p:sp>
      <p:sp>
        <p:nvSpPr>
          <p:cNvPr id="15" name="Rate label"/>
          <p:cNvSpPr txBox="1"/>
          <p:nvPr/>
        </p:nvSpPr>
        <p:spPr>
          <a:xfrm>
            <a:off x="832104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average usage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Prediction and early warning</a:t>
            </a:r>
            <a:endParaRPr lang="en-US" sz="3400" dirty="0"/>
          </a:p>
        </p:txBody>
      </p:sp>
      <p:pic>
        <p:nvPicPr>
          <p:cNvPr id="3" name="Predict and Warn screenshot" descr="/tmp/claude-0/-home-user-WATTWATCH/3f01c9fc-04d6-52e2-bae7-b98eba98baa7/scratchpad/deck/img/pre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4149306"/>
          </a:xfrm>
          <a:prstGeom prst="rect">
            <a:avLst/>
          </a:prstGeom>
        </p:spPr>
      </p:pic>
      <p:sp>
        <p:nvSpPr>
          <p:cNvPr id="4" name="Projected units card"/>
          <p:cNvSpPr/>
          <p:nvPr/>
        </p:nvSpPr>
        <p:spPr>
          <a:xfrm>
            <a:off x="7680960" y="128016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jected units value"/>
          <p:cNvSpPr txBox="1"/>
          <p:nvPr/>
        </p:nvSpPr>
        <p:spPr>
          <a:xfrm>
            <a:off x="786384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533 units</a:t>
            </a:r>
            <a:endParaRPr lang="en-US" sz="3000" dirty="0"/>
          </a:p>
        </p:txBody>
      </p:sp>
      <p:sp>
        <p:nvSpPr>
          <p:cNvPr id="6" name="Projected units label"/>
          <p:cNvSpPr txBox="1"/>
          <p:nvPr/>
        </p:nvSpPr>
        <p:spPr>
          <a:xfrm>
            <a:off x="78638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predicted for the 60-day cycle</a:t>
            </a:r>
            <a:endParaRPr lang="en-US" sz="1300" dirty="0"/>
          </a:p>
        </p:txBody>
      </p:sp>
      <p:sp>
        <p:nvSpPr>
          <p:cNvPr id="7" name="Projected bill card"/>
          <p:cNvSpPr/>
          <p:nvPr/>
        </p:nvSpPr>
        <p:spPr>
          <a:xfrm>
            <a:off x="7680960" y="260604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jected bill value"/>
          <p:cNvSpPr txBox="1"/>
          <p:nvPr/>
        </p:nvSpPr>
        <p:spPr>
          <a:xfrm>
            <a:off x="7863840" y="2697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Rs 2,370</a:t>
            </a:r>
            <a:endParaRPr lang="en-US" sz="3000" dirty="0"/>
          </a:p>
        </p:txBody>
      </p:sp>
      <p:sp>
        <p:nvSpPr>
          <p:cNvPr id="9" name="Projected bill label"/>
          <p:cNvSpPr txBox="1"/>
          <p:nvPr/>
        </p:nvSpPr>
        <p:spPr>
          <a:xfrm>
            <a:off x="78638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predicted bill</a:t>
            </a:r>
            <a:endParaRPr lang="en-US" sz="1300" dirty="0"/>
          </a:p>
        </p:txBody>
      </p:sp>
      <p:sp>
        <p:nvSpPr>
          <p:cNvPr id="10" name="Warning card"/>
          <p:cNvSpPr/>
          <p:nvPr/>
        </p:nvSpPr>
        <p:spPr>
          <a:xfrm>
            <a:off x="7680960" y="393192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arning value"/>
          <p:cNvSpPr txBox="1"/>
          <p:nvPr/>
        </p:nvSpPr>
        <p:spPr>
          <a:xfrm>
            <a:off x="7863840" y="4023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~27 days</a:t>
            </a:r>
            <a:endParaRPr lang="en-US" sz="3000" dirty="0"/>
          </a:p>
        </p:txBody>
      </p:sp>
      <p:sp>
        <p:nvSpPr>
          <p:cNvPr id="12" name="Warning label"/>
          <p:cNvSpPr txBox="1"/>
          <p:nvPr/>
        </p:nvSpPr>
        <p:spPr>
          <a:xfrm>
            <a:off x="7863840" y="4617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until crossing 400 units</a:t>
            </a:r>
            <a:endParaRPr lang="en-US" sz="1300" dirty="0"/>
          </a:p>
        </p:txBody>
      </p:sp>
      <p:sp>
        <p:nvSpPr>
          <p:cNvPr id="13" name="Formula"/>
          <p:cNvSpPr txBox="1"/>
          <p:nvPr/>
        </p:nvSpPr>
        <p:spPr>
          <a:xfrm>
            <a:off x="768096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Predicted units = units so far + units per day × days left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Improvement: a realistic warning</a:t>
            </a:r>
            <a:endParaRPr lang="en-US" sz="3400" dirty="0"/>
          </a:p>
        </p:txBody>
      </p:sp>
      <p:sp>
        <p:nvSpPr>
          <p:cNvPr id="3" name="Before card"/>
          <p:cNvSpPr/>
          <p:nvPr/>
        </p:nvSpPr>
        <p:spPr>
          <a:xfrm>
            <a:off x="548640" y="1371600"/>
            <a:ext cx="4937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efore title"/>
          <p:cNvSpPr txBox="1"/>
          <p:nvPr/>
        </p:nvSpPr>
        <p:spPr>
          <a:xfrm>
            <a:off x="77724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Before</a:t>
            </a:r>
            <a:endParaRPr lang="en-US" sz="2000" dirty="0"/>
          </a:p>
        </p:txBody>
      </p:sp>
      <p:sp>
        <p:nvSpPr>
          <p:cNvPr id="5" name="Before text"/>
          <p:cNvSpPr txBox="1"/>
          <p:nvPr/>
        </p:nvSpPr>
        <p:spPr>
          <a:xfrm>
            <a:off x="777240" y="1920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home crosses the free 100-unit limit, so the app told almost everyone to cut back to 100 units.</a:t>
            </a:r>
            <a:endParaRPr lang="en-US" sz="1400" dirty="0"/>
          </a:p>
        </p:txBody>
      </p:sp>
      <p:sp>
        <p:nvSpPr>
          <p:cNvPr id="6" name="After card"/>
          <p:cNvSpPr/>
          <p:nvPr/>
        </p:nvSpPr>
        <p:spPr>
          <a:xfrm>
            <a:off x="548640" y="2971800"/>
            <a:ext cx="4937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fter title"/>
          <p:cNvSpPr txBox="1"/>
          <p:nvPr/>
        </p:nvSpPr>
        <p:spPr>
          <a:xfrm>
            <a:off x="7772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After</a:t>
            </a:r>
            <a:endParaRPr lang="en-US" sz="2000" dirty="0"/>
          </a:p>
        </p:txBody>
      </p:sp>
      <p:sp>
        <p:nvSpPr>
          <p:cNvPr id="8" name="After text"/>
          <p:cNvSpPr txBox="1"/>
          <p:nvPr/>
        </p:nvSpPr>
        <p:spPr>
          <a:xfrm>
            <a:off x="77724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warning ignores the free-units limit and only checks slabs that cost money (rate &gt; 0).</a:t>
            </a:r>
            <a:endParaRPr lang="en-US" sz="1400" dirty="0"/>
          </a:p>
        </p:txBody>
      </p:sp>
      <p:sp>
        <p:nvSpPr>
          <p:cNvPr id="9" name="Code"/>
          <p:cNvSpPr txBox="1"/>
          <p:nvPr/>
        </p:nvSpPr>
        <p:spPr>
          <a:xfrm>
            <a:off x="548640" y="4709160"/>
            <a:ext cx="4937760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paid_limits = [s.upto for s in tariff.slabs if s.rate &gt; 0 ...]</a:t>
            </a:r>
            <a:endParaRPr lang="en-US" sz="1200" dirty="0"/>
          </a:p>
        </p:txBody>
      </p:sp>
      <p:pic>
        <p:nvPicPr>
          <p:cNvPr id="10" name="Arun prediction screenshot" descr="/tmp/claude-0/-home-user-WATTWATCH/3f01c9fc-04d6-52e2-bae7-b98eba98baa7/scratchpad/deck/img/arun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371600"/>
            <a:ext cx="5760720" cy="1956471"/>
          </a:xfrm>
          <a:prstGeom prst="rect">
            <a:avLst/>
          </a:prstGeom>
        </p:spPr>
      </p:pic>
      <p:sp>
        <p:nvSpPr>
          <p:cNvPr id="11" name="Arun caption"/>
          <p:cNvSpPr txBox="1"/>
          <p:nvPr/>
        </p:nvSpPr>
        <p:spPr>
          <a:xfrm>
            <a:off x="5852160" y="3429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Sample household Arun (80 units in 18 days) is now correctly shown as on track.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Saving plan: cut the right appliance</a:t>
            </a:r>
            <a:endParaRPr lang="en-US" sz="3400" dirty="0"/>
          </a:p>
        </p:txBody>
      </p:sp>
      <p:pic>
        <p:nvPicPr>
          <p:cNvPr id="3" name="Saving plan screenshot" descr="/tmp/claude-0/-home-user-WATTWATCH/3f01c9fc-04d6-52e2-bae7-b98eba98baa7/scratchpad/deck/img/sav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268109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" y="416052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Units per day = watts × quantity × hours ÷ 1000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Cut the most powerful appliances first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most 50% of an appliance's hours; never the fridge</a:t>
            </a:r>
            <a:endParaRPr lang="en-US" sz="1600" dirty="0"/>
          </a:p>
        </p:txBody>
      </p:sp>
      <p:sp>
        <p:nvSpPr>
          <p:cNvPr id="5" name="Units saved card"/>
          <p:cNvSpPr/>
          <p:nvPr/>
        </p:nvSpPr>
        <p:spPr>
          <a:xfrm>
            <a:off x="7680960" y="128016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Units saved value"/>
          <p:cNvSpPr txBox="1"/>
          <p:nvPr/>
        </p:nvSpPr>
        <p:spPr>
          <a:xfrm>
            <a:off x="786384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42 units</a:t>
            </a:r>
            <a:endParaRPr lang="en-US" sz="3000" dirty="0"/>
          </a:p>
        </p:txBody>
      </p:sp>
      <p:sp>
        <p:nvSpPr>
          <p:cNvPr id="7" name="Units saved label"/>
          <p:cNvSpPr txBox="1"/>
          <p:nvPr/>
        </p:nvSpPr>
        <p:spPr>
          <a:xfrm>
            <a:off x="78638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saved this cycle</a:t>
            </a:r>
            <a:endParaRPr lang="en-US" sz="1300" dirty="0"/>
          </a:p>
        </p:txBody>
      </p:sp>
      <p:sp>
        <p:nvSpPr>
          <p:cNvPr id="8" name="Money saved card"/>
          <p:cNvSpPr/>
          <p:nvPr/>
        </p:nvSpPr>
        <p:spPr>
          <a:xfrm>
            <a:off x="7680960" y="260604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ney saved value"/>
          <p:cNvSpPr txBox="1"/>
          <p:nvPr/>
        </p:nvSpPr>
        <p:spPr>
          <a:xfrm>
            <a:off x="7863840" y="2697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Rs 341</a:t>
            </a:r>
            <a:endParaRPr lang="en-US" sz="3000" dirty="0"/>
          </a:p>
        </p:txBody>
      </p:sp>
      <p:sp>
        <p:nvSpPr>
          <p:cNvPr id="10" name="Money saved label"/>
          <p:cNvSpPr txBox="1"/>
          <p:nvPr/>
        </p:nvSpPr>
        <p:spPr>
          <a:xfrm>
            <a:off x="78638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money saved</a:t>
            </a:r>
            <a:endParaRPr lang="en-US" sz="1300" dirty="0"/>
          </a:p>
        </p:txBody>
      </p:sp>
      <p:sp>
        <p:nvSpPr>
          <p:cNvPr id="11" name="CO2 card"/>
          <p:cNvSpPr/>
          <p:nvPr/>
        </p:nvSpPr>
        <p:spPr>
          <a:xfrm>
            <a:off x="7680960" y="3931920"/>
            <a:ext cx="39319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2 value"/>
          <p:cNvSpPr txBox="1"/>
          <p:nvPr/>
        </p:nvSpPr>
        <p:spPr>
          <a:xfrm>
            <a:off x="7863840" y="4023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30 kg</a:t>
            </a:r>
            <a:endParaRPr lang="en-US" sz="3000" dirty="0"/>
          </a:p>
        </p:txBody>
      </p:sp>
      <p:sp>
        <p:nvSpPr>
          <p:cNvPr id="13" name="CO2 label"/>
          <p:cNvSpPr txBox="1"/>
          <p:nvPr/>
        </p:nvSpPr>
        <p:spPr>
          <a:xfrm>
            <a:off x="7863840" y="4617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CO2 avoided</a:t>
            </a:r>
            <a:endParaRPr lang="en-US" sz="1300" dirty="0"/>
          </a:p>
        </p:txBody>
      </p:sp>
      <p:sp>
        <p:nvSpPr>
          <p:cNvPr id="14" name="Plan note"/>
          <p:cNvSpPr txBox="1"/>
          <p:nvPr/>
        </p:nvSpPr>
        <p:spPr>
          <a:xfrm>
            <a:off x="768096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Water heater 1 h → 0.5 h a day keeps Lakshmi below 500 units.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Results, limitations and future work</a:t>
            </a:r>
            <a:endParaRPr lang="en-US" sz="3400" dirty="0"/>
          </a:p>
        </p:txBody>
      </p:sp>
      <p:sp>
        <p:nvSpPr>
          <p:cNvPr id="3" name="Results card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sults title"/>
          <p:cNvSpPr txBox="1"/>
          <p:nvPr/>
        </p:nvSpPr>
        <p:spPr>
          <a:xfrm>
            <a:off x="82296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Results</a:t>
            </a:r>
            <a:endParaRPr lang="en-US" sz="2200" dirty="0"/>
          </a:p>
        </p:txBody>
      </p:sp>
      <p:sp>
        <p:nvSpPr>
          <p:cNvPr id="5" name="Results list"/>
          <p:cNvSpPr txBox="1"/>
          <p:nvPr/>
        </p:nvSpPr>
        <p:spPr>
          <a:xfrm>
            <a:off x="82296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Working web app with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Bill matches the slab tariff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warning before costlier slabs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Saving plan with units, money and CO2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33 automated tests pass</a:t>
            </a:r>
            <a:endParaRPr lang="en-US" sz="1500" dirty="0"/>
          </a:p>
        </p:txBody>
      </p:sp>
      <p:sp>
        <p:nvSpPr>
          <p:cNvPr id="6" name="Limitations card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imitations title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8" name="Limitations list"/>
          <p:cNvSpPr txBox="1"/>
          <p:nvPr/>
        </p:nvSpPr>
        <p:spPr>
          <a:xfrm>
            <a:off x="457200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Tested with sample household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OCR needs clear meter photos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Prediction assumes steady daily 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Tariff must be updated when revised</a:t>
            </a:r>
            <a:endParaRPr lang="en-US" sz="1500" dirty="0"/>
          </a:p>
        </p:txBody>
      </p:sp>
      <p:sp>
        <p:nvSpPr>
          <p:cNvPr id="9" name="Future work card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uture work title"/>
          <p:cNvSpPr txBox="1"/>
          <p:nvPr/>
        </p:nvSpPr>
        <p:spPr>
          <a:xfrm>
            <a:off x="832104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Future work</a:t>
            </a:r>
            <a:endParaRPr lang="en-US" sz="2200" dirty="0"/>
          </a:p>
        </p:txBody>
      </p:sp>
      <p:sp>
        <p:nvSpPr>
          <p:cNvPr id="11" name="Future work list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Installable mobile 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 logins per household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SMS / WhatsApp reminders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Testing with real homes over a full cycle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Repo link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Code: github.com/ZumairaSultana/WATTWATCH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T-WATCH">
  <a:themeElements>
    <a:clrScheme name="WATT-WATCH">
      <a:dk1>
        <a:srgbClr val="17212E"/>
      </a:dk1>
      <a:lt1>
        <a:srgbClr val="FFFFFF"/>
      </a:lt1>
      <a:dk2>
        <a:srgbClr val="3A4A5C"/>
      </a:dk2>
      <a:lt2>
        <a:srgbClr val="F2F4F7"/>
      </a:lt2>
      <a:accent1>
        <a:srgbClr val="F2A900"/>
      </a:accent1>
      <a:accent2>
        <a:srgbClr val="2E8B57"/>
      </a:accent2>
      <a:accent3>
        <a:srgbClr val="C8423B"/>
      </a:accent3>
      <a:accent4>
        <a:srgbClr val="2F6FB0"/>
      </a:accent4>
      <a:accent5>
        <a:srgbClr val="7A8796"/>
      </a:accent5>
      <a:accent6>
        <a:srgbClr val="E8EDF2"/>
      </a:accent6>
      <a:hlink>
        <a:srgbClr val="2F6FB0"/>
      </a:hlink>
      <a:folHlink>
        <a:srgbClr val="7A8796"/>
      </a:folHlink>
    </a:clrScheme>
    <a:fontScheme name="WATT-WAT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WATT-WATCH</dc:title>
  <dc:subject>PptxGenJS Presentation</dc:subject>
  <dc:creator>PptxGenJS</dc:creator>
  <cp:lastModifiedBy>PptxGenJS</cp:lastModifiedBy>
  <cp:revision>1</cp:revision>
  <dcterms:created xsi:type="dcterms:W3CDTF">2026-10-21T08:59:57Z</dcterms:created>
  <dcterms:modified xsi:type="dcterms:W3CDTF">2026-10-21T08:59:57Z</dcterms:modified>
</cp:coreProperties>
</file>